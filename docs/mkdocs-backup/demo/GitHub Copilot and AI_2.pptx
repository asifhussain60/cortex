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4" r:id="rId4"/>
    <p:sldId id="277" r:id="rId5"/>
    <p:sldId id="263" r:id="rId6"/>
    <p:sldId id="278" r:id="rId7"/>
    <p:sldId id="279" r:id="rId8"/>
    <p:sldId id="280" r:id="rId9"/>
    <p:sldId id="281" r:id="rId10"/>
    <p:sldId id="267" r:id="rId11"/>
    <p:sldId id="265" r:id="rId12"/>
    <p:sldId id="282" r:id="rId13"/>
    <p:sldId id="268" r:id="rId14"/>
  </p:sldIdLst>
  <p:sldSz cx="18288000" cy="10287000"/>
  <p:notesSz cx="6858000" cy="9144000"/>
  <p:embeddedFontLst>
    <p:embeddedFont>
      <p:font typeface="Adobe Arabic" panose="02040703060201020203" charset="-78"/>
      <p:bold r:id="rId16"/>
    </p:embeddedFont>
    <p:embeddedFont>
      <p:font typeface="Poppins Bold" panose="020B0604020202020204" charset="0"/>
      <p:regular r:id="rId17"/>
    </p:embeddedFont>
    <p:embeddedFont>
      <p:font typeface="Proxima Nova Bold" panose="020B0604020202020204" charset="0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STZhongsong" panose="02010600040101010101" pitchFamily="2" charset="-122"/>
      <p:regular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Tunga" panose="020B0502040204020203" pitchFamily="3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6EDFFB-2440-4E64-97F2-DF90C4018A22}" v="853" dt="2025-10-07T18:51:06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06" y="6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DC38B-C8F8-4E71-80DB-4A4FB271AA3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C9BE5-85D7-43D7-994A-23B7D9B4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8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0045-8DEC-9BD6-93F0-3F3C43AC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DF2AF-E8E6-2A39-FF8A-25EB0D543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0CF56-146C-E67F-0C67-9AC07C29D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9CC03-A24D-7EE9-D44E-C9C45ADAA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C9BE5-85D7-43D7-994A-23B7D9B4AD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7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C9BE5-85D7-43D7-994A-23B7D9B4AD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9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CBE013A0-0416-E3B0-D207-83EE95AA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553" y="2902886"/>
            <a:ext cx="10416888" cy="694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5"/>
          <p:cNvSpPr txBox="1"/>
          <p:nvPr/>
        </p:nvSpPr>
        <p:spPr>
          <a:xfrm>
            <a:off x="2286000" y="418628"/>
            <a:ext cx="13338097" cy="1133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Copilot In Action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5700710" y="1724335"/>
            <a:ext cx="6886575" cy="636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Collaborating with AI for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1"/>
          <p:cNvGrpSpPr/>
          <p:nvPr/>
        </p:nvGrpSpPr>
        <p:grpSpPr>
          <a:xfrm>
            <a:off x="965200" y="2038025"/>
            <a:ext cx="7939970" cy="3105476"/>
            <a:chOff x="-83256" y="-25400"/>
            <a:chExt cx="9368116" cy="4313560"/>
          </a:xfrm>
        </p:grpSpPr>
        <p:sp>
          <p:nvSpPr>
            <p:cNvPr id="12" name="TextBox 12"/>
            <p:cNvSpPr txBox="1"/>
            <p:nvPr/>
          </p:nvSpPr>
          <p:spPr>
            <a:xfrm>
              <a:off x="117461" y="3659482"/>
              <a:ext cx="9167399" cy="628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033272">
                <a:lnSpc>
                  <a:spcPts val="4407"/>
                </a:lnSpc>
                <a:spcAft>
                  <a:spcPts val="600"/>
                </a:spcAft>
              </a:pPr>
              <a:endParaRPr lang="en-US" sz="3600" b="1" dirty="0">
                <a:solidFill>
                  <a:srgbClr val="7030A0"/>
                </a:solidFill>
                <a:latin typeface="STZhongsong" panose="020B0503020204020204" pitchFamily="2" charset="-122"/>
                <a:ea typeface="STZhongsong" panose="020B0503020204020204" pitchFamily="2" charset="-122"/>
                <a:cs typeface="Proxima Nova Bold"/>
                <a:sym typeface="Proxima Nova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83256" y="-25400"/>
              <a:ext cx="9175044" cy="1483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1033272">
                <a:lnSpc>
                  <a:spcPts val="8258"/>
                </a:lnSpc>
                <a:spcAft>
                  <a:spcPts val="600"/>
                </a:spcAft>
              </a:pPr>
              <a:r>
                <a:rPr lang="en-US" sz="7507" b="1" kern="1200" dirty="0">
                  <a:solidFill>
                    <a:srgbClr val="000000"/>
                  </a:solidFill>
                  <a:latin typeface="Poppins Bold"/>
                  <a:ea typeface="+mn-ea"/>
                  <a:cs typeface="Poppins Bold"/>
                  <a:sym typeface="Poppins Bold"/>
                </a:rPr>
                <a:t>Audience</a:t>
              </a:r>
              <a:endParaRPr lang="en-US" sz="664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31" name="TextBox 12">
            <a:extLst>
              <a:ext uri="{FF2B5EF4-FFF2-40B4-BE49-F238E27FC236}">
                <a16:creationId xmlns:a16="http://schemas.microsoft.com/office/drawing/2014/main" id="{5639CF2A-55BD-E796-7C69-5ADF0F057A5D}"/>
              </a:ext>
            </a:extLst>
          </p:cNvPr>
          <p:cNvSpPr txBox="1"/>
          <p:nvPr/>
        </p:nvSpPr>
        <p:spPr>
          <a:xfrm>
            <a:off x="1795335" y="3622516"/>
            <a:ext cx="6908789" cy="2984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sym typeface="Proxima Nova Bold"/>
              </a:rPr>
              <a:t>I want to work with copilot but don’t know where and how to begin.</a:t>
            </a:r>
          </a:p>
          <a:p>
            <a:pPr marL="457200" indent="-45720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sym typeface="Proxima Nova Bold"/>
              </a:rPr>
              <a:t>Don’t understand how copilot can help.</a:t>
            </a:r>
          </a:p>
          <a:p>
            <a:pPr marL="457200" indent="-45720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sym typeface="Proxima Nova Bold"/>
              </a:rPr>
              <a:t>Need to see GitHub Copilot in action rather than theory</a:t>
            </a:r>
          </a:p>
        </p:txBody>
      </p:sp>
      <p:pic>
        <p:nvPicPr>
          <p:cNvPr id="3076" name="Picture 4" descr="Generated image">
            <a:extLst>
              <a:ext uri="{FF2B5EF4-FFF2-40B4-BE49-F238E27FC236}">
                <a16:creationId xmlns:a16="http://schemas.microsoft.com/office/drawing/2014/main" id="{7B97A4F1-3C52-B7C0-6874-E2A021FB3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19642" y="2268058"/>
            <a:ext cx="7937499" cy="529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75651-07DB-6A02-4B15-1717A561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90254A05-78A7-AAC1-2F09-76E68B611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521A2381-FCB4-B72E-7F41-A754CDCD0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79" name="Straight Connector 7178">
            <a:extLst>
              <a:ext uri="{FF2B5EF4-FFF2-40B4-BE49-F238E27FC236}">
                <a16:creationId xmlns:a16="http://schemas.microsoft.com/office/drawing/2014/main" id="{F0264C48-EF68-E9F9-B56E-17178DB5B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92D591-0BD6-FE72-E834-48D076F28F85}"/>
              </a:ext>
            </a:extLst>
          </p:cNvPr>
          <p:cNvSpPr txBox="1"/>
          <p:nvPr/>
        </p:nvSpPr>
        <p:spPr>
          <a:xfrm>
            <a:off x="2553836" y="2626905"/>
            <a:ext cx="405129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/>
              <a:t>CONCEPTS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BD6FB-1D62-2A0A-A7E8-2B320A44412D}"/>
              </a:ext>
            </a:extLst>
          </p:cNvPr>
          <p:cNvSpPr txBox="1"/>
          <p:nvPr/>
        </p:nvSpPr>
        <p:spPr>
          <a:xfrm>
            <a:off x="2553836" y="4740175"/>
            <a:ext cx="5912198" cy="26468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unga" panose="020B0502040204020203" pitchFamily="34" charset="0"/>
                <a:cs typeface="Tunga" panose="020B0502040204020203" pitchFamily="34" charset="0"/>
              </a:rPr>
              <a:t>Fundamentals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Tokenization Works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Copilot Context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EEEA2-31DD-A80E-CC19-EFA02C8DC164}"/>
              </a:ext>
            </a:extLst>
          </p:cNvPr>
          <p:cNvSpPr txBox="1"/>
          <p:nvPr/>
        </p:nvSpPr>
        <p:spPr>
          <a:xfrm>
            <a:off x="10210800" y="4309288"/>
            <a:ext cx="6526260" cy="35086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unga" panose="020B0502040204020203" pitchFamily="34" charset="0"/>
                <a:cs typeface="Tunga" panose="020B0502040204020203" pitchFamily="34" charset="0"/>
              </a:rPr>
              <a:t>Real App Walkthrough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Started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Walkthrough of Copilot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&amp; Design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 and Tricks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Pitfalls to avoid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B94B0-73C3-A97A-48BD-A0C9A01B0947}"/>
              </a:ext>
            </a:extLst>
          </p:cNvPr>
          <p:cNvSpPr txBox="1"/>
          <p:nvPr/>
        </p:nvSpPr>
        <p:spPr>
          <a:xfrm>
            <a:off x="10085339" y="2629086"/>
            <a:ext cx="626933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/>
              <a:t>APP WALKTHROUGH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6FE4C2EE-FFD5-084B-8375-E967613B4BB8}"/>
              </a:ext>
            </a:extLst>
          </p:cNvPr>
          <p:cNvSpPr txBox="1"/>
          <p:nvPr/>
        </p:nvSpPr>
        <p:spPr>
          <a:xfrm>
            <a:off x="4484639" y="713507"/>
            <a:ext cx="11201400" cy="1646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oppins Bold"/>
              </a:rPr>
              <a:t>Presentation Format</a:t>
            </a:r>
          </a:p>
        </p:txBody>
      </p:sp>
    </p:spTree>
    <p:extLst>
      <p:ext uri="{BB962C8B-B14F-4D97-AF65-F5344CB8AC3E}">
        <p14:creationId xmlns:p14="http://schemas.microsoft.com/office/powerpoint/2010/main" val="378903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person holding a computer&#10;&#10;AI-generated content may be incorrect.">
            <a:extLst>
              <a:ext uri="{FF2B5EF4-FFF2-40B4-BE49-F238E27FC236}">
                <a16:creationId xmlns:a16="http://schemas.microsoft.com/office/drawing/2014/main" id="{D40BF04D-7407-C2DA-F0C6-7CE5D2FE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19576"/>
            <a:ext cx="7467600" cy="7467600"/>
          </a:xfrm>
          <a:prstGeom prst="rect">
            <a:avLst/>
          </a:prstGeom>
        </p:spPr>
      </p:pic>
      <p:grpSp>
        <p:nvGrpSpPr>
          <p:cNvPr id="10" name="Group 11">
            <a:extLst>
              <a:ext uri="{FF2B5EF4-FFF2-40B4-BE49-F238E27FC236}">
                <a16:creationId xmlns:a16="http://schemas.microsoft.com/office/drawing/2014/main" id="{59DDE881-2F7E-A673-D75B-2195DF702CC6}"/>
              </a:ext>
            </a:extLst>
          </p:cNvPr>
          <p:cNvGrpSpPr/>
          <p:nvPr/>
        </p:nvGrpSpPr>
        <p:grpSpPr>
          <a:xfrm>
            <a:off x="9622069" y="876300"/>
            <a:ext cx="7980131" cy="4477076"/>
            <a:chOff x="-130641" y="-1930576"/>
            <a:chExt cx="9415501" cy="6218736"/>
          </a:xfrm>
        </p:grpSpPr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382F1300-040F-8C0F-8534-C7BC1DCC9E8B}"/>
                </a:ext>
              </a:extLst>
            </p:cNvPr>
            <p:cNvSpPr txBox="1"/>
            <p:nvPr/>
          </p:nvSpPr>
          <p:spPr>
            <a:xfrm>
              <a:off x="117461" y="3659482"/>
              <a:ext cx="9167399" cy="628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033272">
                <a:lnSpc>
                  <a:spcPts val="4407"/>
                </a:lnSpc>
                <a:spcAft>
                  <a:spcPts val="600"/>
                </a:spcAft>
              </a:pPr>
              <a:endParaRPr lang="en-US" sz="3600" b="1" dirty="0">
                <a:solidFill>
                  <a:srgbClr val="7030A0"/>
                </a:solidFill>
                <a:latin typeface="STZhongsong" panose="020B0503020204020204" pitchFamily="2" charset="-122"/>
                <a:ea typeface="STZhongsong" panose="020B0503020204020204" pitchFamily="2" charset="-122"/>
                <a:cs typeface="Proxima Nova Bold"/>
                <a:sym typeface="Proxima Nova Bold"/>
              </a:endParaRPr>
            </a:p>
          </p:txBody>
        </p:sp>
        <p:sp>
          <p:nvSpPr>
            <p:cNvPr id="12" name="TextBox 14">
              <a:extLst>
                <a:ext uri="{FF2B5EF4-FFF2-40B4-BE49-F238E27FC236}">
                  <a16:creationId xmlns:a16="http://schemas.microsoft.com/office/drawing/2014/main" id="{DF770696-A589-B259-F40B-DB34950EB4DD}"/>
                </a:ext>
              </a:extLst>
            </p:cNvPr>
            <p:cNvSpPr txBox="1"/>
            <p:nvPr/>
          </p:nvSpPr>
          <p:spPr>
            <a:xfrm>
              <a:off x="-130641" y="-1930576"/>
              <a:ext cx="9175044" cy="1408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1033272">
                <a:lnSpc>
                  <a:spcPts val="8258"/>
                </a:lnSpc>
                <a:spcAft>
                  <a:spcPts val="600"/>
                </a:spcAft>
              </a:pPr>
              <a:endPara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A6050538-E812-002F-42D4-80AFE6DCD6EF}"/>
              </a:ext>
            </a:extLst>
          </p:cNvPr>
          <p:cNvSpPr txBox="1"/>
          <p:nvPr/>
        </p:nvSpPr>
        <p:spPr>
          <a:xfrm>
            <a:off x="8475918" y="5205570"/>
            <a:ext cx="7769852" cy="45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033272">
              <a:lnSpc>
                <a:spcPts val="4407"/>
              </a:lnSpc>
              <a:spcAft>
                <a:spcPts val="600"/>
              </a:spcAft>
            </a:pPr>
            <a:endParaRPr lang="en-US" sz="3600" b="1" dirty="0">
              <a:solidFill>
                <a:srgbClr val="7030A0"/>
              </a:solidFill>
              <a:latin typeface="STZhongsong" panose="020B0503020204020204" pitchFamily="2" charset="-122"/>
              <a:ea typeface="STZhongsong" panose="020B0503020204020204" pitchFamily="2" charset="-122"/>
              <a:cs typeface="Proxima Nova Bold"/>
              <a:sym typeface="Proxima Nova Bold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1FEFF3D1-8BA7-3CEF-A478-986FBC154F88}"/>
              </a:ext>
            </a:extLst>
          </p:cNvPr>
          <p:cNvSpPr txBox="1"/>
          <p:nvPr/>
        </p:nvSpPr>
        <p:spPr>
          <a:xfrm>
            <a:off x="8883014" y="727471"/>
            <a:ext cx="8719185" cy="96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1051560">
              <a:lnSpc>
                <a:spcPts val="4485"/>
              </a:lnSpc>
              <a:spcAft>
                <a:spcPts val="600"/>
              </a:spcAft>
            </a:pPr>
            <a:r>
              <a:rPr lang="en-US" sz="4400" b="1" dirty="0">
                <a:solidFill>
                  <a:srgbClr val="000000"/>
                </a:solidFill>
                <a:latin typeface="Poppins Bold"/>
                <a:cs typeface="Poppins Bold"/>
                <a:sym typeface="Poppins Bold"/>
              </a:rPr>
              <a:t>Valid Concerns:</a:t>
            </a:r>
            <a:br>
              <a:rPr lang="en-US" sz="3200" b="1" dirty="0">
                <a:solidFill>
                  <a:srgbClr val="000000"/>
                </a:solidFill>
                <a:latin typeface="Poppins Bold"/>
                <a:cs typeface="Poppins Bold"/>
                <a:sym typeface="Poppins Bold"/>
              </a:rPr>
            </a:br>
            <a:endParaRPr lang="en-US" sz="3200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sym typeface="Proxima Nova Bold"/>
            </a:endParaRP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sym typeface="Proxima Nova Bold"/>
              </a:rPr>
              <a:t>Trust &amp; Quality Control.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sym typeface="Proxima Nova Bold"/>
              </a:rPr>
              <a:t>Learning Inhibitions.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sym typeface="Proxima Nova Bold"/>
              </a:rPr>
              <a:t>Security &amp; Intellectual Property Concerns.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Cultural &amp; Social Resistance:</a:t>
            </a:r>
            <a:endParaRPr lang="en-US" sz="3200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sym typeface="Proxima Nova Bold"/>
            </a:endParaRP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sym typeface="Proxima Nova Bold"/>
            </a:endParaRPr>
          </a:p>
          <a:p>
            <a:r>
              <a:rPr lang="en-US" sz="4400" b="1" dirty="0">
                <a:solidFill>
                  <a:srgbClr val="000000"/>
                </a:solidFill>
                <a:latin typeface="Poppins Bold"/>
                <a:cs typeface="Poppins Bold"/>
              </a:rPr>
              <a:t>Positive Counter-Evidence:</a:t>
            </a:r>
            <a:br>
              <a:rPr lang="en-US" sz="4400" b="1" dirty="0">
                <a:solidFill>
                  <a:srgbClr val="000000"/>
                </a:solidFill>
                <a:latin typeface="Poppins Bold"/>
                <a:cs typeface="Poppins Bold"/>
              </a:rPr>
            </a:br>
            <a:endParaRPr lang="en-US" sz="4400" b="1" dirty="0">
              <a:solidFill>
                <a:srgbClr val="000000"/>
              </a:solidFill>
              <a:latin typeface="Poppins Bold"/>
              <a:cs typeface="Poppins Bold"/>
            </a:endParaRP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90% higher job fulfillment when adopted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95% enjoy coding more with Copilot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8.69% increased throughput (pull requests)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84% increase in successful builds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15% higher PR merge rates</a:t>
            </a:r>
          </a:p>
          <a:p>
            <a:pPr marL="514350" indent="-514350" defTabSz="1051560">
              <a:lnSpc>
                <a:spcPts val="4485"/>
              </a:lnSpc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sym typeface="Proxima Nova Bold"/>
            </a:endParaRPr>
          </a:p>
        </p:txBody>
      </p:sp>
    </p:spTree>
    <p:extLst>
      <p:ext uri="{BB962C8B-B14F-4D97-AF65-F5344CB8AC3E}">
        <p14:creationId xmlns:p14="http://schemas.microsoft.com/office/powerpoint/2010/main" val="86110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79" name="Straight Connector 717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042FFA-8813-967E-3CE8-0F8DDE37FA89}"/>
              </a:ext>
            </a:extLst>
          </p:cNvPr>
          <p:cNvSpPr txBox="1"/>
          <p:nvPr/>
        </p:nvSpPr>
        <p:spPr>
          <a:xfrm>
            <a:off x="1223066" y="1645946"/>
            <a:ext cx="742245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/>
              <a:t>INSTRUCTIONS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096DD-CE86-6860-FA89-96891F9C1D24}"/>
              </a:ext>
            </a:extLst>
          </p:cNvPr>
          <p:cNvSpPr txBox="1"/>
          <p:nvPr/>
        </p:nvSpPr>
        <p:spPr>
          <a:xfrm>
            <a:off x="1339725" y="2886339"/>
            <a:ext cx="7422453" cy="35086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unga" panose="020B0502040204020203" pitchFamily="34" charset="0"/>
                <a:cs typeface="Tunga" panose="020B0502040204020203" pitchFamily="34" charset="0"/>
              </a:rPr>
              <a:t>Copilot’s Rulebook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contain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GUIDANCE!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Tone (concise, formal, etc.)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Boundaries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Expectations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87F29-8244-4137-B330-0E1D30D45720}"/>
              </a:ext>
            </a:extLst>
          </p:cNvPr>
          <p:cNvSpPr txBox="1"/>
          <p:nvPr/>
        </p:nvSpPr>
        <p:spPr>
          <a:xfrm>
            <a:off x="9536260" y="2670895"/>
            <a:ext cx="7422453" cy="39395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unga" panose="020B0502040204020203" pitchFamily="34" charset="0"/>
                <a:cs typeface="Tunga" panose="020B0502040204020203" pitchFamily="34" charset="0"/>
              </a:rPr>
              <a:t>Copilot’s 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think about a specific task.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Write documentation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Describes approval steps before code is written 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Outlines style rules for writing text or generating diagrams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C13A2-A041-C1E3-CB0B-198F3D7A9D39}"/>
              </a:ext>
            </a:extLst>
          </p:cNvPr>
          <p:cNvSpPr txBox="1"/>
          <p:nvPr/>
        </p:nvSpPr>
        <p:spPr>
          <a:xfrm>
            <a:off x="1676398" y="6972300"/>
            <a:ext cx="61721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it’s not programming—it is </a:t>
            </a:r>
            <a:r>
              <a:rPr lang="en-US" sz="2800" b="1" dirty="0"/>
              <a:t>instructions written in plain English</a:t>
            </a:r>
            <a:r>
              <a:rPr lang="en-US" sz="2800" dirty="0"/>
              <a:t> that Copilot reads to know how to operate within your team.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96179-2167-59B6-04E2-5F824314B4EF}"/>
              </a:ext>
            </a:extLst>
          </p:cNvPr>
          <p:cNvSpPr txBox="1"/>
          <p:nvPr/>
        </p:nvSpPr>
        <p:spPr>
          <a:xfrm>
            <a:off x="10267420" y="6944638"/>
            <a:ext cx="61721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“Prompts are </a:t>
            </a:r>
            <a:r>
              <a:rPr lang="en-US" sz="2800" b="1" dirty="0"/>
              <a:t>reusable</a:t>
            </a:r>
            <a:r>
              <a:rPr lang="en-US" sz="2800" dirty="0"/>
              <a:t> </a:t>
            </a:r>
            <a:r>
              <a:rPr lang="en-US" sz="2800" b="1" dirty="0"/>
              <a:t>instructions</a:t>
            </a:r>
            <a:r>
              <a:rPr lang="en-US" sz="2800" dirty="0"/>
              <a:t>. Instead of repeating ourselves every time, we teach Copilot once and it applies the instructions consistently.”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E0708-4DD3-5622-41EF-962D0A5E4E17}"/>
              </a:ext>
            </a:extLst>
          </p:cNvPr>
          <p:cNvSpPr txBox="1"/>
          <p:nvPr/>
        </p:nvSpPr>
        <p:spPr>
          <a:xfrm>
            <a:off x="9546199" y="1526480"/>
            <a:ext cx="742245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/>
              <a:t>PROMPTS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44F08E70-387C-637C-C47E-8C56A7D3378D}"/>
              </a:ext>
            </a:extLst>
          </p:cNvPr>
          <p:cNvSpPr txBox="1"/>
          <p:nvPr/>
        </p:nvSpPr>
        <p:spPr>
          <a:xfrm>
            <a:off x="533400" y="419100"/>
            <a:ext cx="17373600" cy="1067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33272">
              <a:lnSpc>
                <a:spcPts val="8258"/>
              </a:lnSpc>
              <a:spcAft>
                <a:spcPts val="600"/>
              </a:spcAft>
            </a:pPr>
            <a:r>
              <a:rPr lang="en-US" sz="7507" b="1" kern="1200" dirty="0">
                <a:solidFill>
                  <a:srgbClr val="7030A0"/>
                </a:solidFill>
                <a:latin typeface="Poppins Bold"/>
                <a:ea typeface="+mn-ea"/>
                <a:cs typeface="Poppins Bold"/>
                <a:sym typeface="Poppins Bold"/>
              </a:rPr>
              <a:t>TOKENS ??</a:t>
            </a:r>
            <a:endParaRPr lang="en-US" sz="6643" b="1" dirty="0">
              <a:solidFill>
                <a:srgbClr val="7030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4D148AF0-FEF9-8EA3-5DE1-0717AFE8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1486956"/>
            <a:ext cx="12363450" cy="82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7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BA5480ED-FD80-AE3D-7FC6-D4712C60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6500"/>
            <a:ext cx="8819172" cy="5867400"/>
          </a:xfrm>
          <a:prstGeom prst="rect">
            <a:avLst/>
          </a:prstGeom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CC3E5710-52BB-E97A-1450-F433D281E631}"/>
              </a:ext>
            </a:extLst>
          </p:cNvPr>
          <p:cNvSpPr txBox="1"/>
          <p:nvPr/>
        </p:nvSpPr>
        <p:spPr>
          <a:xfrm>
            <a:off x="533400" y="419100"/>
            <a:ext cx="17373600" cy="1067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33272">
              <a:lnSpc>
                <a:spcPts val="8258"/>
              </a:lnSpc>
              <a:spcAft>
                <a:spcPts val="600"/>
              </a:spcAft>
            </a:pPr>
            <a:r>
              <a:rPr lang="en-US" sz="7507" b="1" kern="1200" dirty="0">
                <a:solidFill>
                  <a:srgbClr val="7030A0"/>
                </a:solidFill>
                <a:latin typeface="Poppins Bold"/>
                <a:ea typeface="+mn-ea"/>
                <a:cs typeface="Poppins Bold"/>
                <a:sym typeface="Poppins Bold"/>
              </a:rPr>
              <a:t>NUTSHELL</a:t>
            </a:r>
            <a:endParaRPr lang="en-US" sz="6643" b="1" dirty="0">
              <a:solidFill>
                <a:srgbClr val="7030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40A26-7E07-B66D-BD7B-6F6D43FCBD31}"/>
              </a:ext>
            </a:extLst>
          </p:cNvPr>
          <p:cNvSpPr txBox="1"/>
          <p:nvPr/>
        </p:nvSpPr>
        <p:spPr>
          <a:xfrm>
            <a:off x="10820400" y="2628900"/>
            <a:ext cx="6019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 is broken into </a:t>
            </a:r>
            <a:r>
              <a:rPr lang="en-US" sz="28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tokens</a:t>
            </a: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(words, parts of words, punctuation, code symbols)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~4 characters per token in English, less in code due to special characters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 Token budget for a session: </a:t>
            </a:r>
            <a:r>
              <a:rPr lang="en-US" sz="28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1,000,000 tokens</a:t>
            </a: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Both input (your prompts) and output (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Copilot </a:t>
            </a: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responses) consume tokens</a:t>
            </a:r>
          </a:p>
        </p:txBody>
      </p:sp>
    </p:spTree>
    <p:extLst>
      <p:ext uri="{BB962C8B-B14F-4D97-AF65-F5344CB8AC3E}">
        <p14:creationId xmlns:p14="http://schemas.microsoft.com/office/powerpoint/2010/main" val="332816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C0994BEC-E864-E20D-837C-527070EE6A28}"/>
              </a:ext>
            </a:extLst>
          </p:cNvPr>
          <p:cNvSpPr txBox="1"/>
          <p:nvPr/>
        </p:nvSpPr>
        <p:spPr>
          <a:xfrm>
            <a:off x="533400" y="419100"/>
            <a:ext cx="17373600" cy="1067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33272">
              <a:lnSpc>
                <a:spcPts val="8258"/>
              </a:lnSpc>
              <a:spcAft>
                <a:spcPts val="600"/>
              </a:spcAft>
            </a:pPr>
            <a:r>
              <a:rPr lang="en-US" sz="7507" b="1" kern="1200" dirty="0">
                <a:solidFill>
                  <a:srgbClr val="7030A0"/>
                </a:solidFill>
                <a:latin typeface="Poppins Bold"/>
                <a:ea typeface="+mn-ea"/>
                <a:cs typeface="Poppins Bold"/>
                <a:sym typeface="Poppins Bold"/>
              </a:rPr>
              <a:t>COPILOT CONTEXT</a:t>
            </a:r>
            <a:endParaRPr lang="en-US" sz="6643" b="1" dirty="0">
              <a:solidFill>
                <a:srgbClr val="7030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0F4EC-2FEC-FE3D-7891-984DF72CA677}"/>
              </a:ext>
            </a:extLst>
          </p:cNvPr>
          <p:cNvSpPr txBox="1"/>
          <p:nvPr/>
        </p:nvSpPr>
        <p:spPr>
          <a:xfrm>
            <a:off x="818403" y="1834902"/>
            <a:ext cx="8401797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i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VS Code Copilot has no persistent memory</a:t>
            </a:r>
          </a:p>
          <a:p>
            <a:pPr>
              <a:spcAft>
                <a:spcPts val="1200"/>
              </a:spcAft>
            </a:pPr>
            <a:r>
              <a:rPr lang="en-US" sz="2800" i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Context = whatever the extension sends along with your request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Explicit Prompt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File Content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Surrounding Code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Workspace Context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Special System Instructions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i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Server-side context handling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 model receives the full tokenized prompt.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Tokens load into the model’s </a:t>
            </a:r>
            <a:r>
              <a:rPr lang="en-US" sz="2400" i="1" dirty="0"/>
              <a:t>context window</a:t>
            </a:r>
            <a:r>
              <a:rPr lang="en-US" sz="2400" dirty="0"/>
              <a:t>—basically RAM for the model.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Attention layers compute relationships across all tokens.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Predictions are generated token-by-token.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Response tokens get streamed back to VS Code.</a:t>
            </a:r>
            <a:br>
              <a:rPr lang="en-US" sz="2400" dirty="0"/>
            </a:br>
            <a:endParaRPr lang="en-US" sz="2400" dirty="0"/>
          </a:p>
          <a:p>
            <a:r>
              <a:rPr lang="en-US" sz="2800" i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Why Copilot “remembers” things only for a few turns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CFFB22-F984-7CE4-4408-AD4EEEA1C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470398"/>
            <a:ext cx="8401797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6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FD99CA-ABB6-00FD-2C61-8C0698871609}"/>
              </a:ext>
            </a:extLst>
          </p:cNvPr>
          <p:cNvSpPr txBox="1"/>
          <p:nvPr/>
        </p:nvSpPr>
        <p:spPr>
          <a:xfrm>
            <a:off x="1447800" y="495300"/>
            <a:ext cx="1371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rgbClr val="7030A0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RELAX &amp; ENJOY &amp; IMAGINE</a:t>
            </a:r>
          </a:p>
        </p:txBody>
      </p:sp>
      <p:pic>
        <p:nvPicPr>
          <p:cNvPr id="8" name="Picture 7" descr="Cartoon robots sitting on a couch drinking popcorn&#10;&#10;AI-generated content may be incorrect.">
            <a:extLst>
              <a:ext uri="{FF2B5EF4-FFF2-40B4-BE49-F238E27FC236}">
                <a16:creationId xmlns:a16="http://schemas.microsoft.com/office/drawing/2014/main" id="{32C1DA2E-79F1-E1CD-8EF1-A384BEEC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41850"/>
            <a:ext cx="10138610" cy="797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84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6" name="Rectangle 1025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CDCC26F6-F12C-C7E2-7144-450F6EB7F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88071"/>
            <a:ext cx="13184886" cy="878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4"/>
          <p:cNvSpPr txBox="1"/>
          <p:nvPr/>
        </p:nvSpPr>
        <p:spPr>
          <a:xfrm>
            <a:off x="457200" y="372512"/>
            <a:ext cx="7696200" cy="2258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oppins Bold"/>
              </a:rPr>
              <a:t>Will Copilot replace me?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27" name="Straight Connector 922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Generated image">
            <a:extLst>
              <a:ext uri="{FF2B5EF4-FFF2-40B4-BE49-F238E27FC236}">
                <a16:creationId xmlns:a16="http://schemas.microsoft.com/office/drawing/2014/main" id="{172EC1DB-160D-21EB-3F65-4700B3FEB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0725" y="1172463"/>
            <a:ext cx="7942073" cy="794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4"/>
          <p:cNvSpPr txBox="1"/>
          <p:nvPr/>
        </p:nvSpPr>
        <p:spPr>
          <a:xfrm>
            <a:off x="1308258" y="1172463"/>
            <a:ext cx="7942074" cy="105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051560">
              <a:lnSpc>
                <a:spcPts val="8122"/>
              </a:lnSpc>
              <a:spcAft>
                <a:spcPts val="600"/>
              </a:spcAft>
            </a:pPr>
            <a:r>
              <a:rPr lang="en-US" sz="7384" b="1" kern="1200" dirty="0">
                <a:solidFill>
                  <a:srgbClr val="000000"/>
                </a:solidFill>
                <a:latin typeface="Poppins Bold"/>
                <a:ea typeface="+mn-ea"/>
                <a:cs typeface="Poppins Bold"/>
                <a:sym typeface="Poppins Bold"/>
              </a:rPr>
              <a:t>Takeaway</a:t>
            </a:r>
            <a:endParaRPr lang="en-US" sz="642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39697-AA43-3366-AC98-FFAF04CA017F}"/>
              </a:ext>
            </a:extLst>
          </p:cNvPr>
          <p:cNvSpPr txBox="1"/>
          <p:nvPr/>
        </p:nvSpPr>
        <p:spPr>
          <a:xfrm>
            <a:off x="1308258" y="3404561"/>
            <a:ext cx="7422453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7030A0"/>
                </a:solidFill>
              </a:rPr>
              <a:t>Don’t </a:t>
            </a:r>
            <a:r>
              <a:rPr lang="en-US" sz="4400" b="1" dirty="0">
                <a:solidFill>
                  <a:srgbClr val="7030A0"/>
                </a:solidFill>
              </a:rPr>
              <a:t>FEAR</a:t>
            </a:r>
            <a:r>
              <a:rPr lang="en-US" sz="4400" dirty="0">
                <a:solidFill>
                  <a:srgbClr val="7030A0"/>
                </a:solidFill>
              </a:rPr>
              <a:t>, Copilot is HERE!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7030A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7030A0"/>
                </a:solidFill>
              </a:rPr>
              <a:t>Paradigm Shift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7030A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7030A0"/>
                </a:solidFill>
              </a:rPr>
              <a:t>YOU </a:t>
            </a:r>
            <a:r>
              <a:rPr lang="en-US" sz="4400" dirty="0">
                <a:solidFill>
                  <a:srgbClr val="7030A0"/>
                </a:solidFill>
              </a:rPr>
              <a:t>are in </a:t>
            </a:r>
            <a:r>
              <a:rPr lang="en-US" sz="4400" b="1" dirty="0">
                <a:solidFill>
                  <a:srgbClr val="7030A0"/>
                </a:solidFill>
              </a:rPr>
              <a:t>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Freeform: Shape 4113">
            <a:extLst>
              <a:ext uri="{FF2B5EF4-FFF2-40B4-BE49-F238E27FC236}">
                <a16:creationId xmlns:a16="http://schemas.microsoft.com/office/drawing/2014/main" id="{8DAAB828-02C8-4111-AC14-FF5ACEDDF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0" y="0"/>
            <a:ext cx="13196933" cy="10287000"/>
          </a:xfrm>
          <a:custGeom>
            <a:avLst/>
            <a:gdLst>
              <a:gd name="connsiteX0" fmla="*/ 1951386 w 8751613"/>
              <a:gd name="connsiteY0" fmla="*/ 0 h 6858000"/>
              <a:gd name="connsiteX1" fmla="*/ 6808636 w 8751613"/>
              <a:gd name="connsiteY1" fmla="*/ 0 h 6858000"/>
              <a:gd name="connsiteX2" fmla="*/ 6972292 w 8751613"/>
              <a:gd name="connsiteY2" fmla="*/ 272824 h 6858000"/>
              <a:gd name="connsiteX3" fmla="*/ 8684358 w 8751613"/>
              <a:gd name="connsiteY3" fmla="*/ 3126935 h 6858000"/>
              <a:gd name="connsiteX4" fmla="*/ 8684358 w 8751613"/>
              <a:gd name="connsiteY4" fmla="*/ 3731065 h 6858000"/>
              <a:gd name="connsiteX5" fmla="*/ 6813619 w 8751613"/>
              <a:gd name="connsiteY5" fmla="*/ 6849692 h 6858000"/>
              <a:gd name="connsiteX6" fmla="*/ 6808636 w 8751613"/>
              <a:gd name="connsiteY6" fmla="*/ 6858000 h 6858000"/>
              <a:gd name="connsiteX7" fmla="*/ 1951386 w 8751613"/>
              <a:gd name="connsiteY7" fmla="*/ 6858000 h 6858000"/>
              <a:gd name="connsiteX8" fmla="*/ 1787729 w 8751613"/>
              <a:gd name="connsiteY8" fmla="*/ 6585176 h 6858000"/>
              <a:gd name="connsiteX9" fmla="*/ 75663 w 8751613"/>
              <a:gd name="connsiteY9" fmla="*/ 3731065 h 6858000"/>
              <a:gd name="connsiteX10" fmla="*/ 75663 w 8751613"/>
              <a:gd name="connsiteY10" fmla="*/ 3126935 h 6858000"/>
              <a:gd name="connsiteX11" fmla="*/ 1946402 w 8751613"/>
              <a:gd name="connsiteY11" fmla="*/ 83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1613" h="6858000">
                <a:moveTo>
                  <a:pt x="1951386" y="0"/>
                </a:moveTo>
                <a:lnTo>
                  <a:pt x="6808636" y="0"/>
                </a:lnTo>
                <a:lnTo>
                  <a:pt x="6972292" y="272824"/>
                </a:lnTo>
                <a:cubicBezTo>
                  <a:pt x="8684358" y="3126935"/>
                  <a:pt x="8684358" y="3126935"/>
                  <a:pt x="8684358" y="3126935"/>
                </a:cubicBezTo>
                <a:cubicBezTo>
                  <a:pt x="8774032" y="3299544"/>
                  <a:pt x="8774032" y="3558457"/>
                  <a:pt x="8684358" y="3731065"/>
                </a:cubicBezTo>
                <a:cubicBezTo>
                  <a:pt x="7154297" y="6281764"/>
                  <a:pt x="6867411" y="6760019"/>
                  <a:pt x="6813619" y="6849692"/>
                </a:cubicBezTo>
                <a:lnTo>
                  <a:pt x="6808636" y="6858000"/>
                </a:lnTo>
                <a:lnTo>
                  <a:pt x="1951386" y="6858000"/>
                </a:lnTo>
                <a:lnTo>
                  <a:pt x="1787729" y="6585176"/>
                </a:lnTo>
                <a:cubicBezTo>
                  <a:pt x="75663" y="3731065"/>
                  <a:pt x="75663" y="3731065"/>
                  <a:pt x="75663" y="3731065"/>
                </a:cubicBezTo>
                <a:cubicBezTo>
                  <a:pt x="-25220" y="3558457"/>
                  <a:pt x="-25220" y="3299544"/>
                  <a:pt x="75663" y="3126935"/>
                </a:cubicBezTo>
                <a:cubicBezTo>
                  <a:pt x="1605724" y="576237"/>
                  <a:pt x="1892611" y="97981"/>
                  <a:pt x="1946402" y="8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100" name="Picture 4" descr="Our deepest fear is not that we are inadequate. Our deepest fear is that we  are powerful beyond measure.&quot; Marianne Williamson. Tag someone who needs to  hear this message today #mariannewilliamsom #motivationalquote #">
            <a:extLst>
              <a:ext uri="{FF2B5EF4-FFF2-40B4-BE49-F238E27FC236}">
                <a16:creationId xmlns:a16="http://schemas.microsoft.com/office/drawing/2014/main" id="{A93073BF-61D6-8429-BBA3-A57482187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23361" y="1668439"/>
            <a:ext cx="6950121" cy="695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6" name="Group 4115">
            <a:extLst>
              <a:ext uri="{FF2B5EF4-FFF2-40B4-BE49-F238E27FC236}">
                <a16:creationId xmlns:a16="http://schemas.microsoft.com/office/drawing/2014/main" id="{C32D4553-E775-4F16-9A6F-FED8D166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740841" y="1612782"/>
            <a:ext cx="2343401" cy="1759459"/>
            <a:chOff x="9160561" y="1000124"/>
            <a:chExt cx="1562267" cy="1172973"/>
          </a:xfrm>
        </p:grpSpPr>
        <p:sp>
          <p:nvSpPr>
            <p:cNvPr id="4117" name="Freeform 5">
              <a:extLst>
                <a:ext uri="{FF2B5EF4-FFF2-40B4-BE49-F238E27FC236}">
                  <a16:creationId xmlns:a16="http://schemas.microsoft.com/office/drawing/2014/main" id="{50F864A1-23CF-4954-887F-3C4458622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8" name="Freeform 5">
              <a:extLst>
                <a:ext uri="{FF2B5EF4-FFF2-40B4-BE49-F238E27FC236}">
                  <a16:creationId xmlns:a16="http://schemas.microsoft.com/office/drawing/2014/main" id="{8D313E8C-7457-407E-BDA5-EACA44D38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2265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Generated image">
            <a:extLst>
              <a:ext uri="{FF2B5EF4-FFF2-40B4-BE49-F238E27FC236}">
                <a16:creationId xmlns:a16="http://schemas.microsoft.com/office/drawing/2014/main" id="{84BADBD2-CEF8-637A-70E1-54F68F79D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5551" y="2400300"/>
            <a:ext cx="11430000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4"/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dirty="0">
                <a:latin typeface="+mj-lt"/>
                <a:ea typeface="+mj-ea"/>
                <a:cs typeface="+mj-cs"/>
                <a:sym typeface="Poppins Bold"/>
              </a:rPr>
              <a:t>Happy Copiloting!!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b23c674-de8a-426d-bc8b-74ad6594a910}" enabled="1" method="Standard" siteId="{c5d0ad88-8f93-43b8-9b7c-c8a3bb8e410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414</Words>
  <Application>Microsoft Office PowerPoint</Application>
  <PresentationFormat>Custom</PresentationFormat>
  <Paragraphs>82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Calibri</vt:lpstr>
      <vt:lpstr>Tunga</vt:lpstr>
      <vt:lpstr>Aptos</vt:lpstr>
      <vt:lpstr>Adobe Arabic</vt:lpstr>
      <vt:lpstr>Tahoma</vt:lpstr>
      <vt:lpstr>STZhongsong</vt:lpstr>
      <vt:lpstr>Arial</vt:lpstr>
      <vt:lpstr>Poppins Bold</vt:lpstr>
      <vt:lpstr>Roboto</vt:lpstr>
      <vt:lpstr>Proxima Nova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GitHub Copilot and AI</dc:title>
  <dc:creator>ASIF HUSSAIN</dc:creator>
  <dc:description>Presentation - GitHub Copilot and AI</dc:description>
  <cp:lastModifiedBy>Asif Hussain</cp:lastModifiedBy>
  <cp:revision>12</cp:revision>
  <dcterms:created xsi:type="dcterms:W3CDTF">2006-08-16T00:00:00Z</dcterms:created>
  <dcterms:modified xsi:type="dcterms:W3CDTF">2025-12-05T20:02:53Z</dcterms:modified>
  <dc:identifier>DAG1DTMBQPI</dc:identifier>
</cp:coreProperties>
</file>